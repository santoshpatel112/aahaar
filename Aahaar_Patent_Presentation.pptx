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9728" cy="35661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55448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AAHAAR</a:t>
            </a:r>
          </a:p>
          <a:p>
            <a:pPr>
              <a:spcBef>
                <a:spcPts val="800"/>
              </a:spcBef>
              <a:defRPr sz="1900" b="1">
                <a:solidFill>
                  <a:srgbClr val="F97316"/>
                </a:solidFill>
                <a:latin typeface="Arial"/>
              </a:defRPr>
            </a:pPr>
            <a:r>
              <a:t>Intelligent Food Donation, CSR Compliance &amp; Environmental Impact Management Platform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A Unified B2B SaaS Enterprise Ecosystem Orchestrating Surplus Redirection, Cryptographic Verification, and Compliance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29768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rial"/>
              </a:defRPr>
            </a:pPr>
            <a:r>
              <a:t>Presenter: Santosh Patel | Department of Computer Science &amp; Engineering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ABES Engineering College | Spark Fellowship Round 2 Selection Challenge</a:t>
            </a:r>
          </a:p>
          <a:p>
            <a:pPr>
              <a:spcBef>
                <a:spcPts val="800"/>
              </a:spcBef>
              <a:defRPr sz="1050" i="1">
                <a:solidFill>
                  <a:srgbClr val="F97316"/>
                </a:solidFill>
                <a:latin typeface="Arial"/>
              </a:defRPr>
            </a:pPr>
            <a:r>
              <a:t>IP Status: Patent-Pending Technology (System &amp; Method for Secure Real-time Surplus Logistics Verification)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01: STRATEGIC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Executive Summary &amp; Core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Platform Vision (Zero Waste Ecosystem)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Empower enterprises to eliminate edible food waste while addressing global malnutrition challenges.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Design a transparent, automated circular economy model for redistribution.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Bridge the gap between food donors (commercial kitchens, banquets, offices) and verified NGOs in real time.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Log all transactions securely to build immutable impact records and carbon offset credits.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Executive Summary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Aahaar is an enterprise-grade SaaS utility linking donors with local shelters.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Solves the trust deficit via a proprietary cryptographic QR + PIN handshake workflow.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Provides real-time environmental metrics (methane reduction, tree absorption equivalents).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Automates tax savings audits under Section 80G and board reporting under CSR Section 135.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01: STRATEGIC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Food Waste &amp; Trust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The Distribution Crisis (SDG 2, 12, 13)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40% of food produced in India is wasted annually (worth over Rs. 92,000 crores).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Over 190 million citizens go hungry daily due to massive coordinate mismatch.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Organic waste dumped in municipal landfills releases potent methane gas.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No centralized enterprise collection interface exists for corporate kitchens and caterers.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Systemic Operational Obstacles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Logistics Spoilage: Cooked food has a strict 4-hour shelf-life. Manual pickup routing is too slow.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Trust Deficit: Donors lack transparency and auditing capabilities to verify receipt of donations.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Incentive Deficit: High logistical costs discourage donation without immediate financial/tax write-offs.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Fraud Vulnerability: Absence of active user credentials allows bad-actor redirection.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01: STRATEGIC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AAHAAR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Intelligent Surplus Logistics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Real-time food listing with description, quantity, shelf life, and photo logs.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Nearest Verified NGO Selection Algorithm handles geofenced matching under 15 mins.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Role-based dashboard notifications (WebSockets) route allocations automatically.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Secure document gate processes validation credentials before claims are allowed.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Compliance &amp; Financial Automation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Automated Section 80G Indian Income Tax calculations value assets instantly.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Dynamic certificate generator builds watermarked, scannable compliance receipts.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Integrated ESG analytics dashboard charts greenhouse gas offsets and meals served.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Smart contract logs on EVM provide an immutable, decentralized audit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02: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Enterprise Target Segments &amp;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Primary Commercial Donors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Hospitality: Large hotels, restaurants, and cloud kitchen clusters.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Events: Wedding halls, banquet venues, and exhibition caterers.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Corporate: Enterprise offices and manufacturing company cafeterias.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Retailers: Supermarkets, grocery chains, and packaged food distributors.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Institutions: Colleges, schools, and hospital kitchen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Logistics &amp; Governance Entities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Partners: Verified local shelters, food banks, and charitable organizations.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Municipalities: City corporations seeking to divert landfill organic mass.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Corporate CSR: Compliance departments auditing social development indexes.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Tax Auditors: Enterprise accountants validating deductible tax certificates.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02: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Multi-Role User Matrix &amp;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Operational Role Invariants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Donors: Authorize food listings, scan pick-up QR codes, and download tax receipts.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Representatives: Claim available listings, execute collections, and update statuses.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Volunteers / Riders: Claim transit routes, handle physical cargo, and log handovers.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Delivery Partners: Third-party API operators tracking geofenced vehicle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Enterprise &amp; Administrative Roles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CSR Managers: Review dashboard stats, compile carbon offset ledgers, and download files.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Corporate Executives: Audit Section 135 spends and monitor CSR program growth.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Admins: Audit identity documents (PAN/Aadhaar), verify NGOs, and handle disputes.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DAO Voters: Verified NGOs cast votes on-chain to approve new registry entrants.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03: PROCESS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Complete System Workflow: Surplus Food Rescue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1. Detect &amp; Match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logs surplus.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validates food details and category tags.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Matching Engine selects closest verified NGO.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2. Claim &amp; Code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claims matching allocation.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Admin verifies files.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compiles secure QR + 6-digit PIN 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3. Scan &amp; Verify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rider reaches donor pickup site.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scans NGO QR (proximity validation).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Hand-off verified.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4. Log &amp; Report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Donation state locked to EVM database.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ESG dashboard matches carbon offsets.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Tax Exemption receipt is issued.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03: PROCESS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NGO Food Request Workflow (Demand-Pull)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1. Create &amp; Broadcast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files custom food demand request.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Specifies category, quantity needed, and city.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Broadcasts alert.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2. Claim &amp; Lock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Nearby donors receive push notifications.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One matching donor claims request.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Request locked instantly.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3. Transit &amp; Handover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assigns vehicle / pickup time.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Representative reaches donor site.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Presents transaction QR.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4. Settle &amp; Sync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scans QR code to verify pickup.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EVM logs confirmation hash.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updates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03: PROCESS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Direct NGO Donation Workflow (Ad-hoc)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1. Target Selection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skips geofence routing.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Selects target NGO from verified registry.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Submits donation details.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2. NGO Audit Gate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Target NGO receives push/Socket.IO alert.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Evaluates shelf-life and volume matches.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Accepts or rejects listing.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3. Security Pass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Acceptance triggers QR generation.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Transmits secure pickup code to NGO representative.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Rendezvous scheduled.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645920"/>
            <a:ext cx="245059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828800"/>
            <a:ext cx="190195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4. Verify &amp; Seal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inputs pickup verification token.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Status committed to complete on EVM ledger.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Issues digital receipt.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03: PROCESS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Cryptographic QR Handshake &amp; Geo-Verification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Token &amp; QR Generation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compiles verification payload containing transaction ID, timestamp, and signature.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Generates dynamic, single-use QR code and corresponding 6-digit OTP code.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Restricts token validation to a geofenced radius surrounding the donor's coordinates.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Enforces code expiry if pickup is not executed within specified timeline gates.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Validation &amp; Verification Handshake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representative displays QR code to the donor at physical pickup site.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scans QR code via camera portal (or manually inputs verification code).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validates match, logs client coordinate proximity, and seals state.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Smart contract executes verifyDonation() to commit transaction on-chain.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03: PROCESS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Unified Donation Lifecycle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1. Initialization States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Pending: Surplus listed; awaiting verification and matching algorithm run.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Accepted: Matched NGO claims listing; logistics coordinates generated.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Pickup Started: Rider dispatched; location transit coordinates active.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569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2. Verification States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Verification Pending: Food delivered at site; awaiting scan validation.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Verified: Dual-party QR/PIN handshake completed and validated.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Completed: On-chain transaction committed; certificates unlocked.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755648"/>
            <a:ext cx="73152" cy="41696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3. Exception &amp; Terminal States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Rejected: Listing fails safety audits or verification checks.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Cancelled: Cancelled by donor or NGO before pickup transit starts.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Expired: Food exceeds safe shelf-life limits without matching.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04: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Real-time Multi-channel Notification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Delivery Speed &amp; Channels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Real-Time: Socket.IO broadcasts instant listings to nearby NGO dashboards.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Background Push: Firebase Cloud Messaging (FCM) alerts mobile devices when apps are closed.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Audit: Transactional emails transmit certificates, reports, and ledger invoices.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Failsafe SMS: Automated text alerts bypass low mobile internet zones.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Reliability &amp; Queue Architecture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Offline Queue: Caches alerts for delivery when network coverage is restored.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Retry Manager: Automatically retries message transfers with exponential backoff.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Geofence Filters: Restricts notifications to active NGOs inside a 5km radius.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History Log: Retains a read/unread status database for audit tracking.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04: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Enterprise Dashboard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Corporate / CSR Dashboard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Section 135 Spend tracker.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Contributions ledger (audit trail).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Carbon reduction offsets (ESG).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Employee engagement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569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NGO Registry Dashboard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Active matching listings board.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Custom food request broadcasts.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Delivery rider dispatch metrics.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Reputation scorecard ledger.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755648"/>
            <a:ext cx="73152" cy="41696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System Admin Control Panel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Identity verification vault (PAN/Aadhaar check).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Credential reviews and approvals.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Dispute routing board.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health indicators.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04: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Automated Environmental Impact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Carbon Offset Mechanics (SDG 13)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Diverting food waste avoids landfill decay methane emissions (a GHG 25x more potent than CO₂).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Formula: CO₂ Saved (kg) = Rescued Food (kg) x 2.5 (Standard Diversion Factor).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Sequestration translation: Tree Equivalent = CO₂ Saved / 22 (absorption per tree per year).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Converts raw solid waste metrics into audit-ready carbon offset credits.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ESG Resource Metrics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Water Footprint Restored: Tracks virtual water saved by redirecting items (liters).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Landfill Diversion Weight: Measures total organic matter prevented from decay (tons).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Social Impact Multiplier: Meals Distributed = Saved Food (kg) x 2.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Electricity Offset: Models energy savings in farm-to-table supply chains.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05: COMPLIANCE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Corporate CSR &amp; Section 135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Audit-Ready CSR Reporting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Aligns directly with Section 135 of the Indian Companies Act, 2013.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Generates automated monthly, quarterly, and annual compliance reports.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Provides secure digital audit trails mapping donor logs to verified NGO registration certificates.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Tracks employee volunteer participation logs for ESG rating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Enterprise ESG Compliance Suite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Automated corporate carbon footprint credit validation.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Contributions ledger linking invoices to physical delivery proofs.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Direct export formats for board reviews and statutory filings.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Verified compliance rating scoring NGO reliability and hygiene.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05: COMPLIANCE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Tax Benefit Management &amp; Section 80G Auditing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Exemption Valuation Engine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Automates tax savings under Section 80G of the Indian Income Tax Act, 1961.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Maps weight to category base rates for valuation (e.g. ₹45/kg Cooked Meals, ₹100/kg Packaged).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Direct savings calculation: Exemption claim (50% value) x Corporate Tax Bracket (e.g. 30%).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Enforces document verification gate (approved PAN) before downloads are unlocked.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Anti-Forgery PDF Receipts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Compiled with dynamic watermark layer to prevent duplication and forgery.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Embedded QR code contains signed transaction summary (Receipt ID, timestamp, PAN, NGO).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Scanning verification QR pulls details instantly from secure backend registry.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Official green circular ink stamp rendering style mimics physical audit stamp.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05: COMPLIANCE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Fraud Prevention &amp; Trust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Operational Verification Gates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Donor Identity Check: Required Aadhaar/identity validation at registration onboarding.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 Credentials Gate: Required registration certificate audits before claims are permitted.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Proximity Verification: Captures geo-coordinates during handshake scans.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Rules-Based Duplicate Detection: Flags copycat donation weights and description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Cryptographic &amp; Technical Controls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Time-Limited QR: Code regeneration occurs every 60 seconds to prevent replay attacks.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One-Time Code: Verification codes expire 15 minutes after issuance.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Audit Logging: Captures every state change with admin footprint stamps.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Security Proxy: Smart contract roles block unauthorized reputation point writes.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04: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System Architecture &amp; Core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Web2 Speed &amp; Logistics Layer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Frontend UI: Next.js, React, TailwindCSS, and Shadcn UI components.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API Core: Node.js / Express.js managing routes and user databases.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Real-Time Engine: Socket.IO handles sub-second dispatch and alerts.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Storage: MongoDB caches records; AWS S3 vaults identity documentation.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Background Sync: Redis queues manage notifications and PDF compilation.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Web3 Immutability &amp; Trust Layer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Smart Contracts: Solidity contracts built and compiled via Hardhat.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NGORegistry.sol: Stores registered NGO wallet addresses and documentation IPFS hashes.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Donation.sol: Enforces state transitions (Accepted, Transit, Completed).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ReputationSystem.sol: Upgradeable proxy contract rewarding logistics score points (+50/+30).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AahaarDAO.sol: Governs peer-onboarding of NGOs to bypass centralized admin gate.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04: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Database Schema &amp; Entity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Core Users &amp; NGOs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Users: Name, Email, PasswordHash, Role, VerificationStatus, WalletAddress.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NGOs: NGOName, RegisterNumber, PAN, Wallet, ReputationScore, ActiveFlag.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569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Donations &amp; Requests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Donation: DonorID, RecipientNGO, ItemsList, Weight, Geohash, Status, EVMHash, ProofCID.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FoodRequest: NGOID, TargetQty, Category, UrgencyLevel, FulfilledQty, Expiry.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755648"/>
            <a:ext cx="73152" cy="41696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Audits &amp; Certificates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Certificates: CertificateID, DonationID, TaxExemptionClaim, DigitalSignature, ScannableQR.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VerificationLogs: GeoCoordinates, Timestamp, ScannerID, OTPHash.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05: COMPLIANCE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Data Protection &amp;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Network &amp; API Security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Enforces HTTPS with TLS 1.3 encryption across all communication routes.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JWT authentication with secure, HTTP-only cookie refresh token rotation.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Rate limiting policies restrict brute-force access to verification and auth endpoints.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Helmet middleware secures HTTP headers; strict CORS boundaries restrict cross-origin threats.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Data &amp; Contract Protections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MongoDB validation schemas enforce data types and prevent injection attacks.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Solidity smart contracts utilize OpenZeppelin base contracts to prevent reentrancy.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All documents stored in S3 are encrypted at rest using AES-256 keys.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UUPS smart contract upgrade proxy blocks unauthorized execution gates.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06: INNOVATION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Key Patentable Technical Claims (Provisional)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Claim 1: Logistics Handshake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Method for double-verifying physical handover coordinates.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Dynamic, signed QR code generation linked to localized geohashes.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rejects verification if donor camera coordinates mismatch pickup coordinates.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5696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Claim 2: Dual-State Syncing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synchronizes high-performance database state with EVM log transactions.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Asynchronous polling middleware catches blockchain log events to update MongoDB.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Maintains operational continuity during low-internet drops.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755648"/>
            <a:ext cx="73152" cy="41696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828800"/>
            <a:ext cx="277977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Claim 3: Exemption Engine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System automates Indian Income Tax Section 80G calculations at food handover.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Category rate mapping values donor assets in real-time.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Generates secure, watermarked certificates with embedded QR codes.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02: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Commercial Business Model &amp;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Enterprise Revenue Streams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B2B SaaS Subscriptions: Charge corporate kitchens Rs. 1,500/month for ESG dashboards.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80G Tax Exemption Commission: 3% fee on realized cash tax savings downloaded.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Premium NGO Console: Logistics tracking tools licensed to large food banks.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CSR API Integrations: Enterprise system connectors sold to SAP/Oracle ERPs.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Financial Scale Targets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Launch Capitalization: Rs. 10,000 hyper-local rollout budget (Flyers, basic fuel, staging runs).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12-Month Targets: Rescuing 10,000+ kg food; serving 20,000+ meals; avoiding 25,000 kg CO₂.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Economic Value: Unlocking Rs. 3,50,000+ in corporate tax savings.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Scales city-by-city through low startup cost geofenced cells.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06: INNOVATION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Competitive Differentiators &amp; Market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Competitor Landscape Limitations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Robin Hood Army: High volunteer base but lacks corporate compliance and dashboards.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Feeding India: Large programmatic execution but lacks automated tax deduction files.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Traditional NGOs: Inefficient manual pickup matching leads to high cooked food waste.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Food Aggregators (Zomato/Swiggy): Core commercial delivery models lack CSR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AAHAAR Key Differentiators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Unified B2B Platform: Bridges donors, logistics, and accountants under one SaaS console.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Zero Fraud Handshake: Geofenced QR validations secure physical asset transfers.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Compliance Ledgers: Automated, audited reports satisfy CSR Section 135 regulations.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Real-Time ESG Indexes: Carbon footprint calculations map offsets to trees saved.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97316"/>
                </a:solidFill>
                <a:latin typeface="Arial"/>
              </a:defRPr>
            </a:pPr>
            <a:r>
              <a:t>SECTION 07: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Growth Roadmap &amp; Technological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1">
                <a:solidFill>
                  <a:srgbClr val="475569"/>
                </a:solidFill>
                <a:latin typeface="Arial"/>
              </a:defRPr>
            </a:pPr>
            <a:r>
              <a:t>AAHAAR ENTERPRISE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55648"/>
            <a:ext cx="73152" cy="41696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Advanced Automation &amp; IoT Integrations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Food Freshness Assessment: Computer vision analyzes item photos to predict remaining shelf life.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IoT Cold Chain Tracking: Hardware sensors audit transportation temperatures in real time.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Demand Forecasting: Machine learning models predict food deficits across city geohashes.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Drone Delivery Integrations: Autonomous airborne routing for critical, short shelf-life cooked meals.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755648"/>
            <a:ext cx="73152" cy="41696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828800"/>
            <a:ext cx="4572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Ecosystem Scaling &amp; Integrations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Carbon Credit Marketplace: Let corporate partners trade carbon savings points on Web3 exchanges.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POS Integrations: Connect with Zomato/Swiggy order APIs to log commercial kitchen waste.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Public Distribution Sync: Connect with municipal PDS networks to support urban food security.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050">
                <a:solidFill>
                  <a:srgbClr val="475569"/>
                </a:solidFill>
                <a:latin typeface="Arial"/>
              </a:defRPr>
            </a:pPr>
            <a:r>
              <a:t>•  Global Rollout: Replicate geofenced model across developing urban centers globally.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AAHAAR: DIGITIZING TRUST, FEEDING LIVES</a:t>
            </a:r>
          </a:p>
          <a:p>
            <a:pPr algn="ctr">
              <a:spcBef>
                <a:spcPts val="600"/>
              </a:spcBef>
              <a:defRPr sz="1600" b="1">
                <a:solidFill>
                  <a:srgbClr val="F97316"/>
                </a:solidFill>
                <a:latin typeface="Arial"/>
              </a:defRPr>
            </a:pPr>
            <a:r>
              <a:t>Together, We Can Eliminate Food Waste, Empower Communities, and Build a Sustainable Future.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10B981"/>
                </a:solidFill>
                <a:latin typeface="Arial"/>
              </a:defRPr>
            </a:pPr>
            <a:r>
              <a:t>AAHAAR — Feeding People. Empowering NGOs. Transforming CSR. Protecting the Planet.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340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ctr">
              <a:spcBef>
                <a:spcPts val="1000"/>
              </a:spcBef>
              <a:defRPr sz="1250">
                <a:solidFill>
                  <a:srgbClr val="FFFFFF"/>
                </a:solidFill>
                <a:latin typeface="Arial"/>
              </a:defRPr>
            </a:pPr>
            <a:r>
              <a:t>Patent-Pending Framework: Safeguards core verification and automated tax valuation algorithms from copycats.</a:t>
            </a:r>
          </a:p>
          <a:p>
            <a:pPr algn="ctr">
              <a:spcBef>
                <a:spcPts val="1000"/>
              </a:spcBef>
              <a:defRPr sz="1250">
                <a:solidFill>
                  <a:srgbClr val="FFFFFF"/>
                </a:solidFill>
                <a:latin typeface="Arial"/>
              </a:defRPr>
            </a:pPr>
            <a:r>
              <a:t>Enterprise Utility Dashboard: Full-scale SaaS solution addressing corporate CSR and green ESG targets.</a:t>
            </a:r>
          </a:p>
          <a:p>
            <a:pPr algn="ctr">
              <a:spcBef>
                <a:spcPts val="1000"/>
              </a:spcBef>
              <a:defRPr sz="1250">
                <a:solidFill>
                  <a:srgbClr val="FFFFFF"/>
                </a:solidFill>
                <a:latin typeface="Arial"/>
              </a:defRPr>
            </a:pPr>
            <a:r>
              <a:t>Operational MVP: Deployed codebase integrating Express APIs, Socket.IO, and Solidity smart contracts.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ABES Engineering College  •  Investor Pitch  •  Contact: santosh.patel@abes.ac.in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